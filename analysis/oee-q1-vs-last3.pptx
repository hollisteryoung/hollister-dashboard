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Target OEE</c:v>
                </c:pt>
              </c:strCache>
            </c:strRef>
          </c:tx>
          <c:spPr>
            <a:solidFill>
              <a:srgbClr val="C2C6CF"/>
            </a:solidFill>
            <a:effectLst/>
          </c:spPr>
          <c:invertIfNegative val="0"/>
          <c:dLbls>
            <c:numFmt formatCode="0.0" sourceLinked="0"/>
            <c:txPr>
              <a:bodyPr/>
              <a:lstStyle/>
              <a:p>
                <a:pPr>
                  <a:defRPr b="0" i="0" strike="noStrike" sz="700" u="none">
                    <a:solidFill>
                      <a:srgbClr val="4A5670"/>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Ring / Extruder  (3)</c:v>
                  </c:pt>
                  <c:pt idx="1">
                    <c:v>Dansac Closed Pouch  (3)</c:v>
                  </c:pt>
                  <c:pt idx="2">
                    <c:v>BFX Cells  (1)</c:v>
                  </c:pt>
                  <c:pt idx="3">
                    <c:v>Urostomy (HU) Cells  (3)</c:v>
                  </c:pt>
                  <c:pt idx="4">
                    <c:v>Hollister Closed Pouch  (6)</c:v>
                  </c:pt>
                  <c:pt idx="5">
                    <c:v>BIM Machines  (17)</c:v>
                  </c:pt>
                  <c:pt idx="6">
                    <c:v>Hollister Drainable Pouch  (8)</c:v>
                  </c:pt>
                  <c:pt idx="7">
                    <c:v>1-Piece Autocoiners  (12)</c:v>
                  </c:pt>
                  <c:pt idx="8">
                    <c:v>Dansac Drainable Pouch  (3)</c:v>
                  </c:pt>
                  <c:pt idx="9">
                    <c:v>2-Piece Autocoiners  (8)</c:v>
                  </c:pt>
                </c:lvl>
              </c:multiLvlStrCache>
            </c:multiLvlStrRef>
          </c:cat>
          <c:val>
            <c:numRef>
              <c:f>Sheet1!$B$2:$B$11</c:f>
              <c:numCache>
                <c:formatCode>General</c:formatCode>
                <c:ptCount val="10"/>
                <c:pt idx="0">
                  <c:v>66.1</c:v>
                </c:pt>
                <c:pt idx="1">
                  <c:v>62.9</c:v>
                </c:pt>
                <c:pt idx="2">
                  <c:v>58.9</c:v>
                </c:pt>
                <c:pt idx="3">
                  <c:v>54.7</c:v>
                </c:pt>
                <c:pt idx="4">
                  <c:v>69.3</c:v>
                </c:pt>
                <c:pt idx="5">
                  <c:v>71.1</c:v>
                </c:pt>
                <c:pt idx="6">
                  <c:v>59.6</c:v>
                </c:pt>
                <c:pt idx="7">
                  <c:v>71.7</c:v>
                </c:pt>
                <c:pt idx="8">
                  <c:v>56.4</c:v>
                </c:pt>
                <c:pt idx="9">
                  <c:v>75.6</c:v>
                </c:pt>
              </c:numCache>
            </c:numRef>
          </c:val>
        </c:ser>
        <c:ser>
          <c:idx val="1"/>
          <c:order val="1"/>
          <c:tx>
            <c:strRef>
              <c:f>Sheet1!$C$1</c:f>
              <c:strCache>
                <c:ptCount val="1"/>
                <c:pt idx="0">
                  <c:v>Q1 2026 (Jan–Mar)</c:v>
                </c:pt>
              </c:strCache>
            </c:strRef>
          </c:tx>
          <c:spPr>
            <a:solidFill>
              <a:srgbClr val="93ADD2"/>
            </a:solidFill>
            <a:effectLst/>
          </c:spPr>
          <c:invertIfNegative val="0"/>
          <c:dLbls>
            <c:numFmt formatCode="0.0" sourceLinked="0"/>
            <c:txPr>
              <a:bodyPr/>
              <a:lstStyle/>
              <a:p>
                <a:pPr>
                  <a:defRPr b="0" i="0" strike="noStrike" sz="700" u="none">
                    <a:solidFill>
                      <a:srgbClr val="4A5670"/>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Ring / Extruder  (3)</c:v>
                  </c:pt>
                  <c:pt idx="1">
                    <c:v>Dansac Closed Pouch  (3)</c:v>
                  </c:pt>
                  <c:pt idx="2">
                    <c:v>BFX Cells  (1)</c:v>
                  </c:pt>
                  <c:pt idx="3">
                    <c:v>Urostomy (HU) Cells  (3)</c:v>
                  </c:pt>
                  <c:pt idx="4">
                    <c:v>Hollister Closed Pouch  (6)</c:v>
                  </c:pt>
                  <c:pt idx="5">
                    <c:v>BIM Machines  (17)</c:v>
                  </c:pt>
                  <c:pt idx="6">
                    <c:v>Hollister Drainable Pouch  (8)</c:v>
                  </c:pt>
                  <c:pt idx="7">
                    <c:v>1-Piece Autocoiners  (12)</c:v>
                  </c:pt>
                  <c:pt idx="8">
                    <c:v>Dansac Drainable Pouch  (3)</c:v>
                  </c:pt>
                  <c:pt idx="9">
                    <c:v>2-Piece Autocoiners  (8)</c:v>
                  </c:pt>
                </c:lvl>
              </c:multiLvlStrCache>
            </c:multiLvlStrRef>
          </c:cat>
          <c:val>
            <c:numRef>
              <c:f>Sheet1!$C$2:$C$11</c:f>
              <c:numCache>
                <c:formatCode>General</c:formatCode>
                <c:ptCount val="10"/>
                <c:pt idx="0">
                  <c:v>37.1</c:v>
                </c:pt>
                <c:pt idx="1">
                  <c:v>41</c:v>
                </c:pt>
                <c:pt idx="2">
                  <c:v>57.6</c:v>
                </c:pt>
                <c:pt idx="3">
                  <c:v>39.2</c:v>
                </c:pt>
                <c:pt idx="4">
                  <c:v>54.7</c:v>
                </c:pt>
                <c:pt idx="5">
                  <c:v>53.7</c:v>
                </c:pt>
                <c:pt idx="6">
                  <c:v>57.1</c:v>
                </c:pt>
                <c:pt idx="7">
                  <c:v>64.5</c:v>
                </c:pt>
                <c:pt idx="8">
                  <c:v>55.9</c:v>
                </c:pt>
                <c:pt idx="9">
                  <c:v>57.7</c:v>
                </c:pt>
              </c:numCache>
            </c:numRef>
          </c:val>
        </c:ser>
        <c:ser>
          <c:idx val="2"/>
          <c:order val="2"/>
          <c:tx>
            <c:strRef>
              <c:f>Sheet1!$D$1</c:f>
              <c:strCache>
                <c:ptCount val="1"/>
                <c:pt idx="0">
                  <c:v>Last 3 months (May–Jul)</c:v>
                </c:pt>
              </c:strCache>
            </c:strRef>
          </c:tx>
          <c:spPr>
            <a:solidFill>
              <a:srgbClr val="1F3864"/>
            </a:solidFill>
            <a:effectLst/>
          </c:spPr>
          <c:invertIfNegative val="0"/>
          <c:dLbls>
            <c:numFmt formatCode="0.0" sourceLinked="0"/>
            <c:txPr>
              <a:bodyPr/>
              <a:lstStyle/>
              <a:p>
                <a:pPr>
                  <a:defRPr b="0" i="0" strike="noStrike" sz="700" u="none">
                    <a:solidFill>
                      <a:srgbClr val="4A5670"/>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Ring / Extruder  (3)</c:v>
                  </c:pt>
                  <c:pt idx="1">
                    <c:v>Dansac Closed Pouch  (3)</c:v>
                  </c:pt>
                  <c:pt idx="2">
                    <c:v>BFX Cells  (1)</c:v>
                  </c:pt>
                  <c:pt idx="3">
                    <c:v>Urostomy (HU) Cells  (3)</c:v>
                  </c:pt>
                  <c:pt idx="4">
                    <c:v>Hollister Closed Pouch  (6)</c:v>
                  </c:pt>
                  <c:pt idx="5">
                    <c:v>BIM Machines  (17)</c:v>
                  </c:pt>
                  <c:pt idx="6">
                    <c:v>Hollister Drainable Pouch  (8)</c:v>
                  </c:pt>
                  <c:pt idx="7">
                    <c:v>1-Piece Autocoiners  (12)</c:v>
                  </c:pt>
                  <c:pt idx="8">
                    <c:v>Dansac Drainable Pouch  (3)</c:v>
                  </c:pt>
                  <c:pt idx="9">
                    <c:v>2-Piece Autocoiners  (8)</c:v>
                  </c:pt>
                </c:lvl>
              </c:multiLvlStrCache>
            </c:multiLvlStrRef>
          </c:cat>
          <c:val>
            <c:numRef>
              <c:f>Sheet1!$D$2:$D$11</c:f>
              <c:numCache>
                <c:formatCode>General</c:formatCode>
                <c:ptCount val="10"/>
                <c:pt idx="0">
                  <c:v>37</c:v>
                </c:pt>
                <c:pt idx="1">
                  <c:v>40.5</c:v>
                </c:pt>
                <c:pt idx="2">
                  <c:v>45.5</c:v>
                </c:pt>
                <c:pt idx="3">
                  <c:v>46.8</c:v>
                </c:pt>
                <c:pt idx="4">
                  <c:v>49.7</c:v>
                </c:pt>
                <c:pt idx="5">
                  <c:v>54.7</c:v>
                </c:pt>
                <c:pt idx="6">
                  <c:v>56.4</c:v>
                </c:pt>
                <c:pt idx="7">
                  <c:v>57.5</c:v>
                </c:pt>
                <c:pt idx="8">
                  <c:v>60.8</c:v>
                </c:pt>
                <c:pt idx="9">
                  <c:v>61.4</c:v>
                </c:pt>
              </c:numCache>
            </c:numRef>
          </c:val>
        </c:ser>
        <c:dLbls>
          <c:numFmt formatCode="0.0" sourceLinked="0"/>
          <c:txPr>
            <a:bodyPr/>
            <a:lstStyle/>
            <a:p>
              <a:pPr>
                <a:defRPr b="0" i="0" strike="noStrike" sz="700" u="none">
                  <a:solidFill>
                    <a:srgbClr val="4A567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950" b="0" i="0" u="none" strike="noStrike">
                <a:solidFill>
                  <a:srgbClr val="16203A"/>
                </a:solidFill>
                <a:latin typeface="Calibri"/>
              </a:defRPr>
            </a:pPr>
            <a:endParaRPr lang="en-US"/>
          </a:p>
        </c:txPr>
        <c:crossAx val="2094734552"/>
        <c:crosses val="autoZero"/>
        <c:auto val="1"/>
        <c:lblAlgn val="ctr"/>
        <c:noMultiLvlLbl val="1"/>
      </c:catAx>
      <c:valAx>
        <c:axId val="2094734552"/>
        <c:scaling>
          <c:orientation val="minMax"/>
          <c:max val="90"/>
          <c:min val="0"/>
        </c:scaling>
        <c:delete val="0"/>
        <c:axPos val="b"/>
        <c:majorGridlines>
          <c:spPr>
            <a:ln w="9525" cap="flat">
              <a:solidFill>
                <a:srgbClr val="E9ECF1"/>
              </a:solidFill>
              <a:prstDash val="solid"/>
              <a:round/>
            </a:ln>
          </c:spPr>
        </c:majorGridlines>
        <c:numFmt formatCode="0&quot;%&quot;" sourceLinked="0"/>
        <c:majorTickMark val="out"/>
        <c:minorTickMark val="none"/>
        <c:tickLblPos val="low"/>
        <c:spPr>
          <a:ln w="12700" cap="flat">
            <a:noFill/>
            <a:prstDash val="solid"/>
            <a:round/>
          </a:ln>
        </c:spPr>
        <c:txPr>
          <a:bodyPr/>
          <a:lstStyle/>
          <a:p>
            <a:pPr>
              <a:defRPr sz="850" b="0" i="0" u="none" strike="noStrike">
                <a:solidFill>
                  <a:srgbClr val="77809A"/>
                </a:solidFill>
                <a:latin typeface="Calibri"/>
              </a:defRPr>
            </a:pPr>
            <a:endParaRPr lang="en-US"/>
          </a:p>
        </c:txPr>
        <c:crossAx val="2094734554"/>
        <c:crosses val="autoZero"/>
        <c:crossBetween val="between"/>
        <c:majorUnit val="10"/>
      </c:valAx>
      <c:spPr>
        <a:noFill/>
        <a:ln>
          <a:noFill/>
        </a:ln>
        <a:effectLst/>
      </c:spPr>
    </c:plotArea>
    <c:legend>
      <c:legendPos val="t"/>
      <c:overlay val="0"/>
      <c:txPr>
        <a:bodyPr/>
        <a:lstStyle/>
        <a:p>
          <a:pPr>
            <a:defRPr sz="950">
              <a:solidFill>
                <a:srgbClr val="4A567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Company OEE for the last three months (May-Jul 2026) is 54.1%, versus 54.7% in Q1 - flat, not a recovery. Five families improved and five declined. The largest deterioration is 1-Piece Autocoiners at -7.0 pts, caused by two machines. The largest gain is Urostomy at +7.6 pts. Dansac Drainable is the only family above target. Three assets (Extruder 4, Kiefel 2, HF12) run at or near zero and should have their status confirmed before their family gaps are treated as performance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11480" y="237744"/>
            <a:ext cx="8595360" cy="457200"/>
          </a:xfrm>
          <a:prstGeom prst="rect">
            <a:avLst/>
          </a:prstGeom>
          <a:noFill/>
          <a:ln/>
        </p:spPr>
        <p:txBody>
          <a:bodyPr wrap="square" lIns="0" tIns="0" rIns="0" bIns="0" rtlCol="0" anchor="ctr"/>
          <a:lstStyle/>
          <a:p>
            <a:pPr indent="0" marL="0">
              <a:buNone/>
            </a:pPr>
            <a:r>
              <a:rPr lang="en-US" sz="3000" b="1" dirty="0">
                <a:solidFill>
                  <a:srgbClr val="1F3864"/>
                </a:solidFill>
                <a:latin typeface="Cambria" pitchFamily="34" charset="0"/>
                <a:ea typeface="Cambria" pitchFamily="34" charset="-122"/>
                <a:cs typeface="Cambria" pitchFamily="34" charset="-120"/>
              </a:rPr>
              <a:t>OEE: Q1 2026 vs. Last Three Months</a:t>
            </a:r>
            <a:endParaRPr lang="en-US" sz="3000" dirty="0"/>
          </a:p>
        </p:txBody>
      </p:sp>
      <p:sp>
        <p:nvSpPr>
          <p:cNvPr id="3" name="Text 1"/>
          <p:cNvSpPr/>
          <p:nvPr/>
        </p:nvSpPr>
        <p:spPr>
          <a:xfrm>
            <a:off x="429768" y="676656"/>
            <a:ext cx="10058400" cy="237744"/>
          </a:xfrm>
          <a:prstGeom prst="rect">
            <a:avLst/>
          </a:prstGeom>
          <a:noFill/>
          <a:ln/>
        </p:spPr>
        <p:txBody>
          <a:bodyPr wrap="square" lIns="0" tIns="0" rIns="0" bIns="0" rtlCol="0" anchor="ctr"/>
          <a:lstStyle/>
          <a:p>
            <a:pPr indent="0" marL="0">
              <a:buNone/>
            </a:pPr>
            <a:r>
              <a:rPr lang="en-US" sz="1100" b="1" dirty="0">
                <a:solidFill>
                  <a:srgbClr val="4A5670"/>
                </a:solidFill>
                <a:latin typeface="Calibri" pitchFamily="34" charset="0"/>
                <a:ea typeface="Calibri" pitchFamily="34" charset="-122"/>
                <a:cs typeface="Calibri" pitchFamily="34" charset="-120"/>
              </a:rPr>
              <a:t>May–Jun–Jul 2026 vs. Jan–Feb–Mar 2026</a:t>
            </a:r>
            <a:pPr indent="0" marL="0">
              <a:buNone/>
            </a:pPr>
            <a:r>
              <a:rPr lang="en-US" sz="1100" dirty="0">
                <a:solidFill>
                  <a:srgbClr val="77809A"/>
                </a:solidFill>
                <a:latin typeface="Calibri" pitchFamily="34" charset="0"/>
                <a:ea typeface="Calibri" pitchFamily="34" charset="-122"/>
                <a:cs typeface="Calibri" pitchFamily="34" charset="-120"/>
              </a:rPr>
              <a:t>   •   64 workcenters across 10 families   •   equal-weighted mean of monthly workcenter OEE</a:t>
            </a:r>
            <a:endParaRPr lang="en-US" sz="1100" dirty="0"/>
          </a:p>
        </p:txBody>
      </p:sp>
      <p:sp>
        <p:nvSpPr>
          <p:cNvPr id="4" name="Shape 2"/>
          <p:cNvSpPr/>
          <p:nvPr/>
        </p:nvSpPr>
        <p:spPr>
          <a:xfrm>
            <a:off x="411480" y="1005840"/>
            <a:ext cx="11365992" cy="841248"/>
          </a:xfrm>
          <a:prstGeom prst="rect">
            <a:avLst/>
          </a:prstGeom>
          <a:solidFill>
            <a:srgbClr val="F4F6F9"/>
          </a:solidFill>
          <a:ln w="9525">
            <a:solidFill>
              <a:srgbClr val="DFE3EA"/>
            </a:solidFill>
            <a:prstDash val="solid"/>
          </a:ln>
        </p:spPr>
      </p:sp>
      <p:sp>
        <p:nvSpPr>
          <p:cNvPr id="5" name="Text 3"/>
          <p:cNvSpPr/>
          <p:nvPr/>
        </p:nvSpPr>
        <p:spPr>
          <a:xfrm>
            <a:off x="566928" y="1097280"/>
            <a:ext cx="2743200" cy="182880"/>
          </a:xfrm>
          <a:prstGeom prst="rect">
            <a:avLst/>
          </a:prstGeom>
          <a:noFill/>
          <a:ln/>
        </p:spPr>
        <p:txBody>
          <a:bodyPr wrap="square" lIns="0" tIns="0" rIns="0" bIns="0" rtlCol="0" anchor="ctr"/>
          <a:lstStyle/>
          <a:p>
            <a:pPr indent="0" marL="0">
              <a:buNone/>
            </a:pPr>
            <a:r>
              <a:rPr lang="en-US" sz="850" b="1" spc="120" kern="0" dirty="0">
                <a:solidFill>
                  <a:srgbClr val="77809A"/>
                </a:solidFill>
                <a:latin typeface="Calibri" pitchFamily="34" charset="0"/>
                <a:ea typeface="Calibri" pitchFamily="34" charset="-122"/>
                <a:cs typeface="Calibri" pitchFamily="34" charset="-120"/>
              </a:rPr>
              <a:t>COMPANY OEE — LAST 3 MONTHS</a:t>
            </a:r>
            <a:endParaRPr lang="en-US" sz="850" dirty="0"/>
          </a:p>
        </p:txBody>
      </p:sp>
      <p:sp>
        <p:nvSpPr>
          <p:cNvPr id="6" name="Text 4"/>
          <p:cNvSpPr/>
          <p:nvPr/>
        </p:nvSpPr>
        <p:spPr>
          <a:xfrm>
            <a:off x="530352" y="1261872"/>
            <a:ext cx="1737360" cy="475488"/>
          </a:xfrm>
          <a:prstGeom prst="rect">
            <a:avLst/>
          </a:prstGeom>
          <a:noFill/>
          <a:ln/>
        </p:spPr>
        <p:txBody>
          <a:bodyPr wrap="square" lIns="0" tIns="0" rIns="0" bIns="0" rtlCol="0" anchor="ctr"/>
          <a:lstStyle/>
          <a:p>
            <a:pPr indent="0" marL="0">
              <a:buNone/>
            </a:pPr>
            <a:r>
              <a:rPr lang="en-US" sz="3200" b="1" dirty="0">
                <a:solidFill>
                  <a:srgbClr val="9E2A2B"/>
                </a:solidFill>
                <a:latin typeface="Calibri" pitchFamily="34" charset="0"/>
                <a:ea typeface="Calibri" pitchFamily="34" charset="-122"/>
                <a:cs typeface="Calibri" pitchFamily="34" charset="-120"/>
              </a:rPr>
              <a:t>54.1%</a:t>
            </a:r>
            <a:endParaRPr lang="en-US" sz="3200" dirty="0"/>
          </a:p>
        </p:txBody>
      </p:sp>
      <p:sp>
        <p:nvSpPr>
          <p:cNvPr id="7" name="Text 5"/>
          <p:cNvSpPr/>
          <p:nvPr/>
        </p:nvSpPr>
        <p:spPr>
          <a:xfrm>
            <a:off x="2331720" y="1280160"/>
            <a:ext cx="2057400" cy="438912"/>
          </a:xfrm>
          <a:prstGeom prst="rect">
            <a:avLst/>
          </a:prstGeom>
          <a:noFill/>
          <a:ln/>
        </p:spPr>
        <p:txBody>
          <a:bodyPr wrap="square" lIns="0" tIns="0" rIns="0" bIns="0" rtlCol="0" anchor="ctr"/>
          <a:lstStyle/>
          <a:p>
            <a:pPr indent="0" marL="0">
              <a:lnSpc>
                <a:spcPct val="105000"/>
              </a:lnSpc>
              <a:buNone/>
            </a:pPr>
            <a:r>
              <a:rPr lang="en-US" sz="1000" b="1" dirty="0">
                <a:solidFill>
                  <a:srgbClr val="16203A"/>
                </a:solidFill>
                <a:latin typeface="Calibri" pitchFamily="34" charset="0"/>
                <a:ea typeface="Calibri" pitchFamily="34" charset="-122"/>
                <a:cs typeface="Calibri" pitchFamily="34" charset="-120"/>
              </a:rPr>
              <a:t>−0.6 pts</a:t>
            </a:r>
            <a:pPr indent="0" marL="0">
              <a:lnSpc>
                <a:spcPct val="105000"/>
              </a:lnSpc>
              <a:buNone/>
            </a:pPr>
            <a:r>
              <a:rPr lang="en-US" sz="1000" dirty="0">
                <a:solidFill>
                  <a:srgbClr val="4A5670"/>
                </a:solidFill>
                <a:latin typeface="Calibri" pitchFamily="34" charset="0"/>
                <a:ea typeface="Calibri" pitchFamily="34" charset="-122"/>
                <a:cs typeface="Calibri" pitchFamily="34" charset="-120"/>
              </a:rPr>
              <a:t> vs. Q1</a:t>
            </a:r>
            <a:endParaRPr lang="en-US" sz="1000" dirty="0"/>
          </a:p>
          <a:p>
            <a:pPr indent="0" marL="0">
              <a:lnSpc>
                <a:spcPct val="105000"/>
              </a:lnSpc>
              <a:buNone/>
            </a:pPr>
            <a:r>
              <a:rPr lang="en-US" sz="1000" b="1" dirty="0">
                <a:solidFill>
                  <a:srgbClr val="16203A"/>
                </a:solidFill>
                <a:latin typeface="Calibri" pitchFamily="34" charset="0"/>
                <a:ea typeface="Calibri" pitchFamily="34" charset="-122"/>
                <a:cs typeface="Calibri" pitchFamily="34" charset="-120"/>
              </a:rPr>
              <a:t>−13.7 pts</a:t>
            </a:r>
            <a:pPr indent="0" marL="0">
              <a:lnSpc>
                <a:spcPct val="105000"/>
              </a:lnSpc>
              <a:buNone/>
            </a:pPr>
            <a:r>
              <a:rPr lang="en-US" sz="1000" dirty="0">
                <a:solidFill>
                  <a:srgbClr val="4A5670"/>
                </a:solidFill>
                <a:latin typeface="Calibri" pitchFamily="34" charset="0"/>
                <a:ea typeface="Calibri" pitchFamily="34" charset="-122"/>
                <a:cs typeface="Calibri" pitchFamily="34" charset="-120"/>
              </a:rPr>
              <a:t> vs. target</a:t>
            </a:r>
            <a:endParaRPr lang="en-US" sz="1000" dirty="0"/>
          </a:p>
        </p:txBody>
      </p:sp>
      <p:sp>
        <p:nvSpPr>
          <p:cNvPr id="8" name="Shape 6"/>
          <p:cNvSpPr/>
          <p:nvPr/>
        </p:nvSpPr>
        <p:spPr>
          <a:xfrm>
            <a:off x="4526280" y="1133856"/>
            <a:ext cx="0" cy="585216"/>
          </a:xfrm>
          <a:prstGeom prst="line">
            <a:avLst/>
          </a:prstGeom>
          <a:noFill/>
          <a:ln w="12700">
            <a:solidFill>
              <a:srgbClr val="DFE3EA"/>
            </a:solidFill>
            <a:prstDash val="solid"/>
          </a:ln>
        </p:spPr>
      </p:sp>
      <p:sp>
        <p:nvSpPr>
          <p:cNvPr id="9" name="Text 7"/>
          <p:cNvSpPr/>
          <p:nvPr/>
        </p:nvSpPr>
        <p:spPr>
          <a:xfrm>
            <a:off x="4800600" y="1097280"/>
            <a:ext cx="2103120" cy="182880"/>
          </a:xfrm>
          <a:prstGeom prst="rect">
            <a:avLst/>
          </a:prstGeom>
          <a:noFill/>
          <a:ln/>
        </p:spPr>
        <p:txBody>
          <a:bodyPr wrap="square" lIns="0" tIns="0" rIns="0" bIns="0" rtlCol="0" anchor="ctr"/>
          <a:lstStyle/>
          <a:p>
            <a:pPr indent="0" marL="0">
              <a:buNone/>
            </a:pPr>
            <a:r>
              <a:rPr lang="en-US" sz="850" b="1" spc="120" kern="0" dirty="0">
                <a:solidFill>
                  <a:srgbClr val="77809A"/>
                </a:solidFill>
                <a:latin typeface="Calibri" pitchFamily="34" charset="0"/>
                <a:ea typeface="Calibri" pitchFamily="34" charset="-122"/>
                <a:cs typeface="Calibri" pitchFamily="34" charset="-120"/>
              </a:rPr>
              <a:t>Q1 2026 BASELINE</a:t>
            </a:r>
            <a:endParaRPr lang="en-US" sz="850" dirty="0"/>
          </a:p>
        </p:txBody>
      </p:sp>
      <p:sp>
        <p:nvSpPr>
          <p:cNvPr id="10" name="Text 8"/>
          <p:cNvSpPr/>
          <p:nvPr/>
        </p:nvSpPr>
        <p:spPr>
          <a:xfrm>
            <a:off x="4782312" y="1261872"/>
            <a:ext cx="2103120" cy="292608"/>
          </a:xfrm>
          <a:prstGeom prst="rect">
            <a:avLst/>
          </a:prstGeom>
          <a:noFill/>
          <a:ln/>
        </p:spPr>
        <p:txBody>
          <a:bodyPr wrap="square" lIns="0" tIns="0" rIns="0" bIns="0" rtlCol="0" anchor="ctr"/>
          <a:lstStyle/>
          <a:p>
            <a:pPr indent="0" marL="0">
              <a:buNone/>
            </a:pPr>
            <a:r>
              <a:rPr lang="en-US" sz="2000" b="1" dirty="0">
                <a:solidFill>
                  <a:srgbClr val="16203A"/>
                </a:solidFill>
                <a:latin typeface="Calibri" pitchFamily="34" charset="0"/>
                <a:ea typeface="Calibri" pitchFamily="34" charset="-122"/>
                <a:cs typeface="Calibri" pitchFamily="34" charset="-120"/>
              </a:rPr>
              <a:t>54.7%</a:t>
            </a:r>
            <a:endParaRPr lang="en-US" sz="2000" dirty="0"/>
          </a:p>
        </p:txBody>
      </p:sp>
      <p:sp>
        <p:nvSpPr>
          <p:cNvPr id="11" name="Text 9"/>
          <p:cNvSpPr/>
          <p:nvPr/>
        </p:nvSpPr>
        <p:spPr>
          <a:xfrm>
            <a:off x="4800600" y="1572768"/>
            <a:ext cx="2103120" cy="201168"/>
          </a:xfrm>
          <a:prstGeom prst="rect">
            <a:avLst/>
          </a:prstGeom>
          <a:noFill/>
          <a:ln/>
        </p:spPr>
        <p:txBody>
          <a:bodyPr wrap="square" lIns="0" tIns="0" rIns="0" bIns="0" rtlCol="0" anchor="ctr"/>
          <a:lstStyle/>
          <a:p>
            <a:pPr indent="0" marL="0">
              <a:buNone/>
            </a:pPr>
            <a:r>
              <a:rPr lang="en-US" sz="950" dirty="0">
                <a:solidFill>
                  <a:srgbClr val="4A5670"/>
                </a:solidFill>
                <a:latin typeface="Calibri" pitchFamily="34" charset="0"/>
                <a:ea typeface="Calibri" pitchFamily="34" charset="-122"/>
                <a:cs typeface="Calibri" pitchFamily="34" charset="-120"/>
              </a:rPr>
              <a:t>Jan–Mar average</a:t>
            </a:r>
            <a:endParaRPr lang="en-US" sz="950" dirty="0"/>
          </a:p>
        </p:txBody>
      </p:sp>
      <p:sp>
        <p:nvSpPr>
          <p:cNvPr id="12" name="Shape 10"/>
          <p:cNvSpPr/>
          <p:nvPr/>
        </p:nvSpPr>
        <p:spPr>
          <a:xfrm>
            <a:off x="6812280" y="1133856"/>
            <a:ext cx="0" cy="585216"/>
          </a:xfrm>
          <a:prstGeom prst="line">
            <a:avLst/>
          </a:prstGeom>
          <a:noFill/>
          <a:ln w="12700">
            <a:solidFill>
              <a:srgbClr val="DFE3EA"/>
            </a:solidFill>
            <a:prstDash val="solid"/>
          </a:ln>
        </p:spPr>
      </p:sp>
      <p:sp>
        <p:nvSpPr>
          <p:cNvPr id="13" name="Text 11"/>
          <p:cNvSpPr/>
          <p:nvPr/>
        </p:nvSpPr>
        <p:spPr>
          <a:xfrm>
            <a:off x="7086600" y="1097280"/>
            <a:ext cx="2103120" cy="182880"/>
          </a:xfrm>
          <a:prstGeom prst="rect">
            <a:avLst/>
          </a:prstGeom>
          <a:noFill/>
          <a:ln/>
        </p:spPr>
        <p:txBody>
          <a:bodyPr wrap="square" lIns="0" tIns="0" rIns="0" bIns="0" rtlCol="0" anchor="ctr"/>
          <a:lstStyle/>
          <a:p>
            <a:pPr indent="0" marL="0">
              <a:buNone/>
            </a:pPr>
            <a:r>
              <a:rPr lang="en-US" sz="850" b="1" spc="120" kern="0" dirty="0">
                <a:solidFill>
                  <a:srgbClr val="77809A"/>
                </a:solidFill>
                <a:latin typeface="Calibri" pitchFamily="34" charset="0"/>
                <a:ea typeface="Calibri" pitchFamily="34" charset="-122"/>
                <a:cs typeface="Calibri" pitchFamily="34" charset="-120"/>
              </a:rPr>
              <a:t>FLEET TARGET</a:t>
            </a:r>
            <a:endParaRPr lang="en-US" sz="850" dirty="0"/>
          </a:p>
        </p:txBody>
      </p:sp>
      <p:sp>
        <p:nvSpPr>
          <p:cNvPr id="14" name="Text 12"/>
          <p:cNvSpPr/>
          <p:nvPr/>
        </p:nvSpPr>
        <p:spPr>
          <a:xfrm>
            <a:off x="7068312" y="1261872"/>
            <a:ext cx="2103120" cy="292608"/>
          </a:xfrm>
          <a:prstGeom prst="rect">
            <a:avLst/>
          </a:prstGeom>
          <a:noFill/>
          <a:ln/>
        </p:spPr>
        <p:txBody>
          <a:bodyPr wrap="square" lIns="0" tIns="0" rIns="0" bIns="0" rtlCol="0" anchor="ctr"/>
          <a:lstStyle/>
          <a:p>
            <a:pPr indent="0" marL="0">
              <a:buNone/>
            </a:pPr>
            <a:r>
              <a:rPr lang="en-US" sz="2000" b="1" dirty="0">
                <a:solidFill>
                  <a:srgbClr val="16203A"/>
                </a:solidFill>
                <a:latin typeface="Calibri" pitchFamily="34" charset="0"/>
                <a:ea typeface="Calibri" pitchFamily="34" charset="-122"/>
                <a:cs typeface="Calibri" pitchFamily="34" charset="-120"/>
              </a:rPr>
              <a:t>67.8%</a:t>
            </a:r>
            <a:endParaRPr lang="en-US" sz="2000" dirty="0"/>
          </a:p>
        </p:txBody>
      </p:sp>
      <p:sp>
        <p:nvSpPr>
          <p:cNvPr id="15" name="Text 13"/>
          <p:cNvSpPr/>
          <p:nvPr/>
        </p:nvSpPr>
        <p:spPr>
          <a:xfrm>
            <a:off x="7086600" y="1572768"/>
            <a:ext cx="2103120" cy="201168"/>
          </a:xfrm>
          <a:prstGeom prst="rect">
            <a:avLst/>
          </a:prstGeom>
          <a:noFill/>
          <a:ln/>
        </p:spPr>
        <p:txBody>
          <a:bodyPr wrap="square" lIns="0" tIns="0" rIns="0" bIns="0" rtlCol="0" anchor="ctr"/>
          <a:lstStyle/>
          <a:p>
            <a:pPr indent="0" marL="0">
              <a:buNone/>
            </a:pPr>
            <a:r>
              <a:rPr lang="en-US" sz="950" dirty="0">
                <a:solidFill>
                  <a:srgbClr val="4A5670"/>
                </a:solidFill>
                <a:latin typeface="Calibri" pitchFamily="34" charset="0"/>
                <a:ea typeface="Calibri" pitchFamily="34" charset="-122"/>
                <a:cs typeface="Calibri" pitchFamily="34" charset="-120"/>
              </a:rPr>
              <a:t>Equipment-weighted</a:t>
            </a:r>
            <a:endParaRPr lang="en-US" sz="950" dirty="0"/>
          </a:p>
        </p:txBody>
      </p:sp>
      <p:sp>
        <p:nvSpPr>
          <p:cNvPr id="16" name="Shape 14"/>
          <p:cNvSpPr/>
          <p:nvPr/>
        </p:nvSpPr>
        <p:spPr>
          <a:xfrm>
            <a:off x="9006840" y="1133856"/>
            <a:ext cx="0" cy="585216"/>
          </a:xfrm>
          <a:prstGeom prst="line">
            <a:avLst/>
          </a:prstGeom>
          <a:noFill/>
          <a:ln w="12700">
            <a:solidFill>
              <a:srgbClr val="DFE3EA"/>
            </a:solidFill>
            <a:prstDash val="solid"/>
          </a:ln>
        </p:spPr>
      </p:sp>
      <p:sp>
        <p:nvSpPr>
          <p:cNvPr id="17" name="Text 15"/>
          <p:cNvSpPr/>
          <p:nvPr/>
        </p:nvSpPr>
        <p:spPr>
          <a:xfrm>
            <a:off x="9281160" y="1097280"/>
            <a:ext cx="2103120" cy="182880"/>
          </a:xfrm>
          <a:prstGeom prst="rect">
            <a:avLst/>
          </a:prstGeom>
          <a:noFill/>
          <a:ln/>
        </p:spPr>
        <p:txBody>
          <a:bodyPr wrap="square" lIns="0" tIns="0" rIns="0" bIns="0" rtlCol="0" anchor="ctr"/>
          <a:lstStyle/>
          <a:p>
            <a:pPr indent="0" marL="0">
              <a:buNone/>
            </a:pPr>
            <a:r>
              <a:rPr lang="en-US" sz="850" b="1" spc="120" kern="0" dirty="0">
                <a:solidFill>
                  <a:srgbClr val="77809A"/>
                </a:solidFill>
                <a:latin typeface="Calibri" pitchFamily="34" charset="0"/>
                <a:ea typeface="Calibri" pitchFamily="34" charset="-122"/>
                <a:cs typeface="Calibri" pitchFamily="34" charset="-120"/>
              </a:rPr>
              <a:t>FAMILIES AT TARGET</a:t>
            </a:r>
            <a:endParaRPr lang="en-US" sz="850" dirty="0"/>
          </a:p>
        </p:txBody>
      </p:sp>
      <p:sp>
        <p:nvSpPr>
          <p:cNvPr id="18" name="Text 16"/>
          <p:cNvSpPr/>
          <p:nvPr/>
        </p:nvSpPr>
        <p:spPr>
          <a:xfrm>
            <a:off x="9262872" y="1261872"/>
            <a:ext cx="2103120" cy="292608"/>
          </a:xfrm>
          <a:prstGeom prst="rect">
            <a:avLst/>
          </a:prstGeom>
          <a:noFill/>
          <a:ln/>
        </p:spPr>
        <p:txBody>
          <a:bodyPr wrap="square" lIns="0" tIns="0" rIns="0" bIns="0" rtlCol="0" anchor="ctr"/>
          <a:lstStyle/>
          <a:p>
            <a:pPr indent="0" marL="0">
              <a:buNone/>
            </a:pPr>
            <a:r>
              <a:rPr lang="en-US" sz="2000" b="1" dirty="0">
                <a:solidFill>
                  <a:srgbClr val="16203A"/>
                </a:solidFill>
                <a:latin typeface="Calibri" pitchFamily="34" charset="0"/>
                <a:ea typeface="Calibri" pitchFamily="34" charset="-122"/>
                <a:cs typeface="Calibri" pitchFamily="34" charset="-120"/>
              </a:rPr>
              <a:t>1 / 10</a:t>
            </a:r>
            <a:endParaRPr lang="en-US" sz="2000" dirty="0"/>
          </a:p>
        </p:txBody>
      </p:sp>
      <p:sp>
        <p:nvSpPr>
          <p:cNvPr id="19" name="Text 17"/>
          <p:cNvSpPr/>
          <p:nvPr/>
        </p:nvSpPr>
        <p:spPr>
          <a:xfrm>
            <a:off x="9281160" y="1572768"/>
            <a:ext cx="2103120" cy="201168"/>
          </a:xfrm>
          <a:prstGeom prst="rect">
            <a:avLst/>
          </a:prstGeom>
          <a:noFill/>
          <a:ln/>
        </p:spPr>
        <p:txBody>
          <a:bodyPr wrap="square" lIns="0" tIns="0" rIns="0" bIns="0" rtlCol="0" anchor="ctr"/>
          <a:lstStyle/>
          <a:p>
            <a:pPr indent="0" marL="0">
              <a:buNone/>
            </a:pPr>
            <a:r>
              <a:rPr lang="en-US" sz="950" dirty="0">
                <a:solidFill>
                  <a:srgbClr val="4A5670"/>
                </a:solidFill>
                <a:latin typeface="Calibri" pitchFamily="34" charset="0"/>
                <a:ea typeface="Calibri" pitchFamily="34" charset="-122"/>
                <a:cs typeface="Calibri" pitchFamily="34" charset="-120"/>
              </a:rPr>
              <a:t>Dansac Drainable only</a:t>
            </a:r>
            <a:endParaRPr lang="en-US" sz="950" dirty="0"/>
          </a:p>
        </p:txBody>
      </p:sp>
      <p:sp>
        <p:nvSpPr>
          <p:cNvPr id="20" name="Text 18"/>
          <p:cNvSpPr/>
          <p:nvPr/>
        </p:nvSpPr>
        <p:spPr>
          <a:xfrm>
            <a:off x="411480" y="2011680"/>
            <a:ext cx="7498080" cy="219456"/>
          </a:xfrm>
          <a:prstGeom prst="rect">
            <a:avLst/>
          </a:prstGeom>
          <a:noFill/>
          <a:ln/>
        </p:spPr>
        <p:txBody>
          <a:bodyPr wrap="square" lIns="0" tIns="0" rIns="0" bIns="0" rtlCol="0" anchor="ctr"/>
          <a:lstStyle/>
          <a:p>
            <a:pPr indent="0" marL="0">
              <a:buNone/>
            </a:pPr>
            <a:r>
              <a:rPr lang="en-US" sz="1150" b="1" dirty="0">
                <a:solidFill>
                  <a:srgbClr val="16203A"/>
                </a:solidFill>
                <a:latin typeface="Calibri" pitchFamily="34" charset="0"/>
                <a:ea typeface="Calibri" pitchFamily="34" charset="-122"/>
                <a:cs typeface="Calibri" pitchFamily="34" charset="-120"/>
              </a:rPr>
              <a:t>OEE % by workcenter family — target vs. Q1 vs. last 3 months</a:t>
            </a:r>
            <a:endParaRPr lang="en-US" sz="1150" dirty="0"/>
          </a:p>
        </p:txBody>
      </p:sp>
      <p:sp>
        <p:nvSpPr>
          <p:cNvPr id="21" name="Text 19"/>
          <p:cNvSpPr/>
          <p:nvPr/>
        </p:nvSpPr>
        <p:spPr>
          <a:xfrm>
            <a:off x="411480" y="2221992"/>
            <a:ext cx="7498080" cy="182880"/>
          </a:xfrm>
          <a:prstGeom prst="rect">
            <a:avLst/>
          </a:prstGeom>
          <a:noFill/>
          <a:ln/>
        </p:spPr>
        <p:txBody>
          <a:bodyPr wrap="square" lIns="0" tIns="0" rIns="0" bIns="0" rtlCol="0" anchor="ctr"/>
          <a:lstStyle/>
          <a:p>
            <a:pPr indent="0" marL="0">
              <a:buNone/>
            </a:pPr>
            <a:r>
              <a:rPr lang="en-US" sz="900" dirty="0">
                <a:solidFill>
                  <a:srgbClr val="77809A"/>
                </a:solidFill>
                <a:latin typeface="Calibri" pitchFamily="34" charset="0"/>
                <a:ea typeface="Calibri" pitchFamily="34" charset="-122"/>
                <a:cs typeface="Calibri" pitchFamily="34" charset="-120"/>
              </a:rPr>
              <a:t>Sorted by last-3-month OEE, highest first. Workcenter count in brackets.</a:t>
            </a:r>
            <a:endParaRPr lang="en-US" sz="900" dirty="0"/>
          </a:p>
        </p:txBody>
      </p:sp>
      <p:graphicFrame>
        <p:nvGraphicFramePr>
          <p:cNvPr id="22" name="Chart 0" descr=""/>
          <p:cNvGraphicFramePr/>
          <p:nvPr/>
        </p:nvGraphicFramePr>
        <p:xfrm>
          <a:off x="274320" y="2395728"/>
          <a:ext cx="7635240" cy="3977640"/>
        </p:xfrm>
        <a:graphic xmlns:a="http://schemas.openxmlformats.org/drawingml/2006/main">
          <a:graphicData uri="http://schemas.openxmlformats.org/drawingml/2006/chart">
            <c:chart xmlns:c="http://schemas.openxmlformats.org/drawingml/2006/chart" r:id="rId1"/>
          </a:graphicData>
        </a:graphic>
      </p:graphicFrame>
      <p:sp>
        <p:nvSpPr>
          <p:cNvPr id="23" name="Text 20"/>
          <p:cNvSpPr/>
          <p:nvPr/>
        </p:nvSpPr>
        <p:spPr>
          <a:xfrm>
            <a:off x="8247888" y="2011680"/>
            <a:ext cx="3529584" cy="219456"/>
          </a:xfrm>
          <a:prstGeom prst="rect">
            <a:avLst/>
          </a:prstGeom>
          <a:noFill/>
          <a:ln/>
        </p:spPr>
        <p:txBody>
          <a:bodyPr wrap="square" lIns="0" tIns="0" rIns="0" bIns="0" rtlCol="0" anchor="ctr"/>
          <a:lstStyle/>
          <a:p>
            <a:pPr indent="0" marL="0">
              <a:buNone/>
            </a:pPr>
            <a:r>
              <a:rPr lang="en-US" sz="1150" b="1" dirty="0">
                <a:solidFill>
                  <a:srgbClr val="16203A"/>
                </a:solidFill>
                <a:latin typeface="Calibri" pitchFamily="34" charset="0"/>
                <a:ea typeface="Calibri" pitchFamily="34" charset="-122"/>
                <a:cs typeface="Calibri" pitchFamily="34" charset="-120"/>
              </a:rPr>
              <a:t>Key insights</a:t>
            </a:r>
            <a:endParaRPr lang="en-US" sz="1150" dirty="0"/>
          </a:p>
        </p:txBody>
      </p:sp>
      <p:sp>
        <p:nvSpPr>
          <p:cNvPr id="24" name="Shape 21"/>
          <p:cNvSpPr/>
          <p:nvPr/>
        </p:nvSpPr>
        <p:spPr>
          <a:xfrm>
            <a:off x="8247888" y="2308860"/>
            <a:ext cx="82296" cy="82296"/>
          </a:xfrm>
          <a:prstGeom prst="rect">
            <a:avLst/>
          </a:prstGeom>
          <a:solidFill>
            <a:srgbClr val="9E2A2B"/>
          </a:solidFill>
          <a:ln/>
        </p:spPr>
      </p:sp>
      <p:sp>
        <p:nvSpPr>
          <p:cNvPr id="25" name="Text 22"/>
          <p:cNvSpPr/>
          <p:nvPr/>
        </p:nvSpPr>
        <p:spPr>
          <a:xfrm>
            <a:off x="8421624" y="2253996"/>
            <a:ext cx="3355848" cy="182880"/>
          </a:xfrm>
          <a:prstGeom prst="rect">
            <a:avLst/>
          </a:prstGeom>
          <a:noFill/>
          <a:ln/>
        </p:spPr>
        <p:txBody>
          <a:bodyPr wrap="square" lIns="0" tIns="0" rIns="0" bIns="0" rtlCol="0" anchor="ctr"/>
          <a:lstStyle/>
          <a:p>
            <a:pPr indent="0" marL="0">
              <a:buNone/>
            </a:pPr>
            <a:r>
              <a:rPr lang="en-US" sz="850" b="1" spc="120" kern="0" dirty="0">
                <a:solidFill>
                  <a:srgbClr val="9E2A2B"/>
                </a:solidFill>
                <a:latin typeface="Calibri" pitchFamily="34" charset="0"/>
                <a:ea typeface="Calibri" pitchFamily="34" charset="-122"/>
                <a:cs typeface="Calibri" pitchFamily="34" charset="-120"/>
              </a:rPr>
              <a:t>FLAT, NOT RECOVERING</a:t>
            </a:r>
            <a:endParaRPr lang="en-US" sz="850" dirty="0"/>
          </a:p>
        </p:txBody>
      </p:sp>
      <p:sp>
        <p:nvSpPr>
          <p:cNvPr id="26" name="Text 23"/>
          <p:cNvSpPr/>
          <p:nvPr/>
        </p:nvSpPr>
        <p:spPr>
          <a:xfrm>
            <a:off x="8421624" y="2441448"/>
            <a:ext cx="3355848" cy="530352"/>
          </a:xfrm>
          <a:prstGeom prst="rect">
            <a:avLst/>
          </a:prstGeom>
          <a:noFill/>
          <a:ln/>
        </p:spPr>
        <p:txBody>
          <a:bodyPr wrap="square" lIns="0" tIns="0" rIns="0" bIns="0" rtlCol="0" anchor="ctr"/>
          <a:lstStyle/>
          <a:p>
            <a:pPr indent="0" marL="0">
              <a:lnSpc>
                <a:spcPct val="100000"/>
              </a:lnSpc>
              <a:buNone/>
            </a:pPr>
            <a:r>
              <a:rPr lang="en-US" sz="950" b="1" dirty="0">
                <a:solidFill>
                  <a:srgbClr val="16203A"/>
                </a:solidFill>
                <a:latin typeface="Calibri" pitchFamily="34" charset="0"/>
                <a:ea typeface="Calibri" pitchFamily="34" charset="-122"/>
                <a:cs typeface="Calibri" pitchFamily="34" charset="-120"/>
              </a:rPr>
              <a:t>54.7% → 54.1%</a:t>
            </a:r>
            <a:pPr indent="0" marL="0">
              <a:lnSpc>
                <a:spcPct val="100000"/>
              </a:lnSpc>
              <a:buNone/>
            </a:pPr>
            <a:r>
              <a:rPr lang="en-US" sz="950" dirty="0">
                <a:solidFill>
                  <a:srgbClr val="4A5670"/>
                </a:solidFill>
                <a:latin typeface="Calibri" pitchFamily="34" charset="0"/>
                <a:ea typeface="Calibri" pitchFamily="34" charset="-122"/>
                <a:cs typeface="Calibri" pitchFamily="34" charset="-120"/>
              </a:rPr>
              <a:t> — inside the noise band. Five families improved, five declined; the moves cancelled. Nothing structural changed.</a:t>
            </a:r>
            <a:endParaRPr lang="en-US" sz="950" dirty="0"/>
          </a:p>
        </p:txBody>
      </p:sp>
      <p:sp>
        <p:nvSpPr>
          <p:cNvPr id="27" name="Shape 24"/>
          <p:cNvSpPr/>
          <p:nvPr/>
        </p:nvSpPr>
        <p:spPr>
          <a:xfrm>
            <a:off x="8247888" y="3058668"/>
            <a:ext cx="82296" cy="82296"/>
          </a:xfrm>
          <a:prstGeom prst="rect">
            <a:avLst/>
          </a:prstGeom>
          <a:solidFill>
            <a:srgbClr val="9E2A2B"/>
          </a:solidFill>
          <a:ln/>
        </p:spPr>
      </p:sp>
      <p:sp>
        <p:nvSpPr>
          <p:cNvPr id="28" name="Text 25"/>
          <p:cNvSpPr/>
          <p:nvPr/>
        </p:nvSpPr>
        <p:spPr>
          <a:xfrm>
            <a:off x="8421624" y="3003804"/>
            <a:ext cx="3355848" cy="182880"/>
          </a:xfrm>
          <a:prstGeom prst="rect">
            <a:avLst/>
          </a:prstGeom>
          <a:noFill/>
          <a:ln/>
        </p:spPr>
        <p:txBody>
          <a:bodyPr wrap="square" lIns="0" tIns="0" rIns="0" bIns="0" rtlCol="0" anchor="ctr"/>
          <a:lstStyle/>
          <a:p>
            <a:pPr indent="0" marL="0">
              <a:buNone/>
            </a:pPr>
            <a:r>
              <a:rPr lang="en-US" sz="850" b="1" spc="120" kern="0" dirty="0">
                <a:solidFill>
                  <a:srgbClr val="9E2A2B"/>
                </a:solidFill>
                <a:latin typeface="Calibri" pitchFamily="34" charset="0"/>
                <a:ea typeface="Calibri" pitchFamily="34" charset="-122"/>
                <a:cs typeface="Calibri" pitchFamily="34" charset="-120"/>
              </a:rPr>
              <a:t>BIGGEST DETERIORATION</a:t>
            </a:r>
            <a:endParaRPr lang="en-US" sz="850" dirty="0"/>
          </a:p>
        </p:txBody>
      </p:sp>
      <p:sp>
        <p:nvSpPr>
          <p:cNvPr id="29" name="Text 26"/>
          <p:cNvSpPr/>
          <p:nvPr/>
        </p:nvSpPr>
        <p:spPr>
          <a:xfrm>
            <a:off x="8421624" y="3191256"/>
            <a:ext cx="3355848" cy="530352"/>
          </a:xfrm>
          <a:prstGeom prst="rect">
            <a:avLst/>
          </a:prstGeom>
          <a:noFill/>
          <a:ln/>
        </p:spPr>
        <p:txBody>
          <a:bodyPr wrap="square" lIns="0" tIns="0" rIns="0" bIns="0" rtlCol="0" anchor="ctr"/>
          <a:lstStyle/>
          <a:p>
            <a:pPr indent="0" marL="0">
              <a:lnSpc>
                <a:spcPct val="100000"/>
              </a:lnSpc>
              <a:buNone/>
            </a:pPr>
            <a:r>
              <a:rPr lang="en-US" sz="950" b="1" dirty="0">
                <a:solidFill>
                  <a:srgbClr val="16203A"/>
                </a:solidFill>
                <a:latin typeface="Calibri" pitchFamily="34" charset="0"/>
                <a:ea typeface="Calibri" pitchFamily="34" charset="-122"/>
                <a:cs typeface="Calibri" pitchFamily="34" charset="-120"/>
              </a:rPr>
              <a:t>1-Piece Autocoiners</a:t>
            </a:r>
            <a:pPr indent="0" marL="0">
              <a:lnSpc>
                <a:spcPct val="100000"/>
              </a:lnSpc>
              <a:buNone/>
            </a:pPr>
            <a:r>
              <a:rPr lang="en-US" sz="950" dirty="0">
                <a:solidFill>
                  <a:srgbClr val="4A5670"/>
                </a:solidFill>
                <a:latin typeface="Calibri" pitchFamily="34" charset="0"/>
                <a:ea typeface="Calibri" pitchFamily="34" charset="-122"/>
                <a:cs typeface="Calibri" pitchFamily="34" charset="-120"/>
              </a:rPr>
              <a:t> fell </a:t>
            </a:r>
            <a:pPr indent="0" marL="0">
              <a:lnSpc>
                <a:spcPct val="100000"/>
              </a:lnSpc>
              <a:buNone/>
            </a:pPr>
            <a:r>
              <a:rPr lang="en-US" sz="950" b="1" dirty="0">
                <a:solidFill>
                  <a:srgbClr val="16203A"/>
                </a:solidFill>
                <a:latin typeface="Calibri" pitchFamily="34" charset="0"/>
                <a:ea typeface="Calibri" pitchFamily="34" charset="-122"/>
                <a:cs typeface="Calibri" pitchFamily="34" charset="-120"/>
              </a:rPr>
              <a:t>7.0 pts</a:t>
            </a:r>
            <a:pPr indent="0" marL="0">
              <a:lnSpc>
                <a:spcPct val="100000"/>
              </a:lnSpc>
              <a:buNone/>
            </a:pPr>
            <a:r>
              <a:rPr lang="en-US" sz="950" dirty="0">
                <a:solidFill>
                  <a:srgbClr val="4A5670"/>
                </a:solidFill>
                <a:latin typeface="Calibri" pitchFamily="34" charset="0"/>
                <a:ea typeface="Calibri" pitchFamily="34" charset="-122"/>
                <a:cs typeface="Calibri" pitchFamily="34" charset="-120"/>
              </a:rPr>
              <a:t> (64.5% → 57.5%) on two machines alone: Autocoiner #5 (75→44) and #3 (68→41). The other ten held.</a:t>
            </a:r>
            <a:endParaRPr lang="en-US" sz="950" dirty="0"/>
          </a:p>
        </p:txBody>
      </p:sp>
      <p:sp>
        <p:nvSpPr>
          <p:cNvPr id="30" name="Shape 27"/>
          <p:cNvSpPr/>
          <p:nvPr/>
        </p:nvSpPr>
        <p:spPr>
          <a:xfrm>
            <a:off x="8247888" y="3808476"/>
            <a:ext cx="82296" cy="82296"/>
          </a:xfrm>
          <a:prstGeom prst="rect">
            <a:avLst/>
          </a:prstGeom>
          <a:solidFill>
            <a:srgbClr val="1C6B45"/>
          </a:solidFill>
          <a:ln/>
        </p:spPr>
      </p:sp>
      <p:sp>
        <p:nvSpPr>
          <p:cNvPr id="31" name="Text 28"/>
          <p:cNvSpPr/>
          <p:nvPr/>
        </p:nvSpPr>
        <p:spPr>
          <a:xfrm>
            <a:off x="8421624" y="3753612"/>
            <a:ext cx="3355848" cy="182880"/>
          </a:xfrm>
          <a:prstGeom prst="rect">
            <a:avLst/>
          </a:prstGeom>
          <a:noFill/>
          <a:ln/>
        </p:spPr>
        <p:txBody>
          <a:bodyPr wrap="square" lIns="0" tIns="0" rIns="0" bIns="0" rtlCol="0" anchor="ctr"/>
          <a:lstStyle/>
          <a:p>
            <a:pPr indent="0" marL="0">
              <a:buNone/>
            </a:pPr>
            <a:r>
              <a:rPr lang="en-US" sz="850" b="1" spc="120" kern="0" dirty="0">
                <a:solidFill>
                  <a:srgbClr val="1C6B45"/>
                </a:solidFill>
                <a:latin typeface="Calibri" pitchFamily="34" charset="0"/>
                <a:ea typeface="Calibri" pitchFamily="34" charset="-122"/>
                <a:cs typeface="Calibri" pitchFamily="34" charset="-120"/>
              </a:rPr>
              <a:t>BIGGEST IMPROVEMENT</a:t>
            </a:r>
            <a:endParaRPr lang="en-US" sz="850" dirty="0"/>
          </a:p>
        </p:txBody>
      </p:sp>
      <p:sp>
        <p:nvSpPr>
          <p:cNvPr id="32" name="Text 29"/>
          <p:cNvSpPr/>
          <p:nvPr/>
        </p:nvSpPr>
        <p:spPr>
          <a:xfrm>
            <a:off x="8421624" y="3941064"/>
            <a:ext cx="3355848" cy="530352"/>
          </a:xfrm>
          <a:prstGeom prst="rect">
            <a:avLst/>
          </a:prstGeom>
          <a:noFill/>
          <a:ln/>
        </p:spPr>
        <p:txBody>
          <a:bodyPr wrap="square" lIns="0" tIns="0" rIns="0" bIns="0" rtlCol="0" anchor="ctr"/>
          <a:lstStyle/>
          <a:p>
            <a:pPr indent="0" marL="0">
              <a:lnSpc>
                <a:spcPct val="100000"/>
              </a:lnSpc>
              <a:buNone/>
            </a:pPr>
            <a:r>
              <a:rPr lang="en-US" sz="950" b="1" dirty="0">
                <a:solidFill>
                  <a:srgbClr val="16203A"/>
                </a:solidFill>
                <a:latin typeface="Calibri" pitchFamily="34" charset="0"/>
                <a:ea typeface="Calibri" pitchFamily="34" charset="-122"/>
                <a:cs typeface="Calibri" pitchFamily="34" charset="-120"/>
              </a:rPr>
              <a:t>Urostomy cells</a:t>
            </a:r>
            <a:pPr indent="0" marL="0">
              <a:lnSpc>
                <a:spcPct val="100000"/>
              </a:lnSpc>
              <a:buNone/>
            </a:pPr>
            <a:r>
              <a:rPr lang="en-US" sz="950" dirty="0">
                <a:solidFill>
                  <a:srgbClr val="4A5670"/>
                </a:solidFill>
                <a:latin typeface="Calibri" pitchFamily="34" charset="0"/>
                <a:ea typeface="Calibri" pitchFamily="34" charset="-122"/>
                <a:cs typeface="Calibri" pitchFamily="34" charset="-120"/>
              </a:rPr>
              <a:t> gained </a:t>
            </a:r>
            <a:pPr indent="0" marL="0">
              <a:lnSpc>
                <a:spcPct val="100000"/>
              </a:lnSpc>
              <a:buNone/>
            </a:pPr>
            <a:r>
              <a:rPr lang="en-US" sz="950" b="1" dirty="0">
                <a:solidFill>
                  <a:srgbClr val="16203A"/>
                </a:solidFill>
                <a:latin typeface="Calibri" pitchFamily="34" charset="0"/>
                <a:ea typeface="Calibri" pitchFamily="34" charset="-122"/>
                <a:cs typeface="Calibri" pitchFamily="34" charset="-120"/>
              </a:rPr>
              <a:t>7.6 pts</a:t>
            </a:r>
            <a:pPr indent="0" marL="0">
              <a:lnSpc>
                <a:spcPct val="100000"/>
              </a:lnSpc>
              <a:buNone/>
            </a:pPr>
            <a:r>
              <a:rPr lang="en-US" sz="950" dirty="0">
                <a:solidFill>
                  <a:srgbClr val="4A5670"/>
                </a:solidFill>
                <a:latin typeface="Calibri" pitchFamily="34" charset="0"/>
                <a:ea typeface="Calibri" pitchFamily="34" charset="-122"/>
                <a:cs typeface="Calibri" pitchFamily="34" charset="-120"/>
              </a:rPr>
              <a:t> as HU2 recovered 18% → 38%. </a:t>
            </a:r>
            <a:pPr indent="0" marL="0">
              <a:lnSpc>
                <a:spcPct val="100000"/>
              </a:lnSpc>
              <a:buNone/>
            </a:pPr>
            <a:r>
              <a:rPr lang="en-US" sz="950" b="1" dirty="0">
                <a:solidFill>
                  <a:srgbClr val="16203A"/>
                </a:solidFill>
                <a:latin typeface="Calibri" pitchFamily="34" charset="0"/>
                <a:ea typeface="Calibri" pitchFamily="34" charset="-122"/>
                <a:cs typeface="Calibri" pitchFamily="34" charset="-120"/>
              </a:rPr>
              <a:t>Dansac Drainable</a:t>
            </a:r>
            <a:pPr indent="0" marL="0">
              <a:lnSpc>
                <a:spcPct val="100000"/>
              </a:lnSpc>
              <a:buNone/>
            </a:pPr>
            <a:r>
              <a:rPr lang="en-US" sz="950" dirty="0">
                <a:solidFill>
                  <a:srgbClr val="4A5670"/>
                </a:solidFill>
                <a:latin typeface="Calibri" pitchFamily="34" charset="0"/>
                <a:ea typeface="Calibri" pitchFamily="34" charset="-122"/>
                <a:cs typeface="Calibri" pitchFamily="34" charset="-120"/>
              </a:rPr>
              <a:t> is the only family above target (+4.4 pts).</a:t>
            </a:r>
            <a:endParaRPr lang="en-US" sz="950" dirty="0"/>
          </a:p>
        </p:txBody>
      </p:sp>
      <p:sp>
        <p:nvSpPr>
          <p:cNvPr id="33" name="Shape 30"/>
          <p:cNvSpPr/>
          <p:nvPr/>
        </p:nvSpPr>
        <p:spPr>
          <a:xfrm>
            <a:off x="8247888" y="4558284"/>
            <a:ext cx="82296" cy="82296"/>
          </a:xfrm>
          <a:prstGeom prst="rect">
            <a:avLst/>
          </a:prstGeom>
          <a:solidFill>
            <a:srgbClr val="9A6212"/>
          </a:solidFill>
          <a:ln/>
        </p:spPr>
      </p:sp>
      <p:sp>
        <p:nvSpPr>
          <p:cNvPr id="34" name="Text 31"/>
          <p:cNvSpPr/>
          <p:nvPr/>
        </p:nvSpPr>
        <p:spPr>
          <a:xfrm>
            <a:off x="8421624" y="4503420"/>
            <a:ext cx="3355848" cy="182880"/>
          </a:xfrm>
          <a:prstGeom prst="rect">
            <a:avLst/>
          </a:prstGeom>
          <a:noFill/>
          <a:ln/>
        </p:spPr>
        <p:txBody>
          <a:bodyPr wrap="square" lIns="0" tIns="0" rIns="0" bIns="0" rtlCol="0" anchor="ctr"/>
          <a:lstStyle/>
          <a:p>
            <a:pPr indent="0" marL="0">
              <a:buNone/>
            </a:pPr>
            <a:r>
              <a:rPr lang="en-US" sz="850" b="1" spc="120" kern="0" dirty="0">
                <a:solidFill>
                  <a:srgbClr val="9A6212"/>
                </a:solidFill>
                <a:latin typeface="Calibri" pitchFamily="34" charset="0"/>
                <a:ea typeface="Calibri" pitchFamily="34" charset="-122"/>
                <a:cs typeface="Calibri" pitchFamily="34" charset="-120"/>
              </a:rPr>
              <a:t>WATCH ITEM — DEAD ASSETS</a:t>
            </a:r>
            <a:endParaRPr lang="en-US" sz="850" dirty="0"/>
          </a:p>
        </p:txBody>
      </p:sp>
      <p:sp>
        <p:nvSpPr>
          <p:cNvPr id="35" name="Text 32"/>
          <p:cNvSpPr/>
          <p:nvPr/>
        </p:nvSpPr>
        <p:spPr>
          <a:xfrm>
            <a:off x="8421624" y="4690872"/>
            <a:ext cx="3355848" cy="530352"/>
          </a:xfrm>
          <a:prstGeom prst="rect">
            <a:avLst/>
          </a:prstGeom>
          <a:noFill/>
          <a:ln/>
        </p:spPr>
        <p:txBody>
          <a:bodyPr wrap="square" lIns="0" tIns="0" rIns="0" bIns="0" rtlCol="0" anchor="ctr"/>
          <a:lstStyle/>
          <a:p>
            <a:pPr indent="0" marL="0">
              <a:lnSpc>
                <a:spcPct val="100000"/>
              </a:lnSpc>
              <a:buNone/>
            </a:pPr>
            <a:r>
              <a:rPr lang="en-US" sz="950" b="1" dirty="0">
                <a:solidFill>
                  <a:srgbClr val="16203A"/>
                </a:solidFill>
                <a:latin typeface="Calibri" pitchFamily="34" charset="0"/>
                <a:ea typeface="Calibri" pitchFamily="34" charset="-122"/>
                <a:cs typeface="Calibri" pitchFamily="34" charset="-120"/>
              </a:rPr>
              <a:t>Extruder 4</a:t>
            </a:r>
            <a:pPr indent="0" marL="0">
              <a:lnSpc>
                <a:spcPct val="100000"/>
              </a:lnSpc>
              <a:buNone/>
            </a:pPr>
            <a:r>
              <a:rPr lang="en-US" sz="950" dirty="0">
                <a:solidFill>
                  <a:srgbClr val="4A5670"/>
                </a:solidFill>
                <a:latin typeface="Calibri" pitchFamily="34" charset="0"/>
                <a:ea typeface="Calibri" pitchFamily="34" charset="-122"/>
                <a:cs typeface="Calibri" pitchFamily="34" charset="-120"/>
              </a:rPr>
              <a:t> has logged </a:t>
            </a:r>
            <a:pPr indent="0" marL="0">
              <a:lnSpc>
                <a:spcPct val="100000"/>
              </a:lnSpc>
              <a:buNone/>
            </a:pPr>
            <a:r>
              <a:rPr lang="en-US" sz="950" b="1" dirty="0">
                <a:solidFill>
                  <a:srgbClr val="16203A"/>
                </a:solidFill>
                <a:latin typeface="Calibri" pitchFamily="34" charset="0"/>
                <a:ea typeface="Calibri" pitchFamily="34" charset="-122"/>
                <a:cs typeface="Calibri" pitchFamily="34" charset="-120"/>
              </a:rPr>
              <a:t>0.0%</a:t>
            </a:r>
            <a:pPr indent="0" marL="0">
              <a:lnSpc>
                <a:spcPct val="100000"/>
              </a:lnSpc>
              <a:buNone/>
            </a:pPr>
            <a:r>
              <a:rPr lang="en-US" sz="950" dirty="0">
                <a:solidFill>
                  <a:srgbClr val="4A5670"/>
                </a:solidFill>
                <a:latin typeface="Calibri" pitchFamily="34" charset="0"/>
                <a:ea typeface="Calibri" pitchFamily="34" charset="-122"/>
                <a:cs typeface="Calibri" pitchFamily="34" charset="-120"/>
              </a:rPr>
              <a:t> every month of 2026; Kiefel 2 averages 11.8% and HF12 14.4%. These three alone sink Ring/Extruder and Dansac Closed.</a:t>
            </a:r>
            <a:endParaRPr lang="en-US" sz="950" dirty="0"/>
          </a:p>
        </p:txBody>
      </p:sp>
      <p:sp>
        <p:nvSpPr>
          <p:cNvPr id="36" name="Shape 33"/>
          <p:cNvSpPr/>
          <p:nvPr/>
        </p:nvSpPr>
        <p:spPr>
          <a:xfrm>
            <a:off x="8247888" y="5303520"/>
            <a:ext cx="3529584" cy="1097280"/>
          </a:xfrm>
          <a:prstGeom prst="rect">
            <a:avLst/>
          </a:prstGeom>
          <a:solidFill>
            <a:srgbClr val="1F3864"/>
          </a:solidFill>
          <a:ln/>
        </p:spPr>
      </p:sp>
      <p:sp>
        <p:nvSpPr>
          <p:cNvPr id="37" name="Text 34"/>
          <p:cNvSpPr/>
          <p:nvPr/>
        </p:nvSpPr>
        <p:spPr>
          <a:xfrm>
            <a:off x="8394192" y="5367528"/>
            <a:ext cx="3236976" cy="164592"/>
          </a:xfrm>
          <a:prstGeom prst="rect">
            <a:avLst/>
          </a:prstGeom>
          <a:noFill/>
          <a:ln/>
        </p:spPr>
        <p:txBody>
          <a:bodyPr wrap="square" lIns="0" tIns="0" rIns="0" bIns="0" rtlCol="0" anchor="ctr"/>
          <a:lstStyle/>
          <a:p>
            <a:pPr indent="0" marL="0">
              <a:buNone/>
            </a:pPr>
            <a:r>
              <a:rPr lang="en-US" sz="850" b="1" spc="120" kern="0" dirty="0">
                <a:solidFill>
                  <a:srgbClr val="A9B8D2"/>
                </a:solidFill>
                <a:latin typeface="Calibri" pitchFamily="34" charset="0"/>
                <a:ea typeface="Calibri" pitchFamily="34" charset="-122"/>
                <a:cs typeface="Calibri" pitchFamily="34" charset="-120"/>
              </a:rPr>
              <a:t>RECOMMENDED FOCUS</a:t>
            </a:r>
            <a:endParaRPr lang="en-US" sz="850" dirty="0"/>
          </a:p>
        </p:txBody>
      </p:sp>
      <p:sp>
        <p:nvSpPr>
          <p:cNvPr id="38" name="Text 35"/>
          <p:cNvSpPr/>
          <p:nvPr/>
        </p:nvSpPr>
        <p:spPr>
          <a:xfrm>
            <a:off x="8394192" y="5596128"/>
            <a:ext cx="3236976" cy="658368"/>
          </a:xfrm>
          <a:prstGeom prst="rect">
            <a:avLst/>
          </a:prstGeom>
          <a:noFill/>
          <a:ln/>
        </p:spPr>
        <p:txBody>
          <a:bodyPr wrap="square" lIns="0" tIns="0" rIns="0" bIns="0" rtlCol="0" anchor="ctr"/>
          <a:lstStyle/>
          <a:p>
            <a:pPr indent="0" marL="0">
              <a:lnSpc>
                <a:spcPct val="125000"/>
              </a:lnSpc>
              <a:buNone/>
            </a:pPr>
            <a:r>
              <a:rPr lang="en-US" sz="900" b="1" dirty="0">
                <a:solidFill>
                  <a:srgbClr val="FFFFFF"/>
                </a:solidFill>
                <a:latin typeface="Calibri" pitchFamily="34" charset="0"/>
                <a:ea typeface="Calibri" pitchFamily="34" charset="-122"/>
                <a:cs typeface="Calibri" pitchFamily="34" charset="-120"/>
              </a:rPr>
              <a:t>1  Rule on the zero-output assets</a:t>
            </a:r>
            <a:endParaRPr lang="en-US" sz="900" dirty="0"/>
          </a:p>
          <a:p>
            <a:pPr indent="0" marL="0">
              <a:lnSpc>
                <a:spcPct val="125000"/>
              </a:lnSpc>
              <a:buNone/>
            </a:pPr>
            <a:r>
              <a:rPr lang="en-US" sz="900" b="1" dirty="0">
                <a:solidFill>
                  <a:srgbClr val="FFFFFF"/>
                </a:solidFill>
                <a:latin typeface="Calibri" pitchFamily="34" charset="0"/>
                <a:ea typeface="Calibri" pitchFamily="34" charset="-122"/>
                <a:cs typeface="Calibri" pitchFamily="34" charset="-120"/>
              </a:rPr>
              <a:t>2  Root-cause Autocoiner #3 and #5</a:t>
            </a:r>
            <a:endParaRPr lang="en-US" sz="900" dirty="0"/>
          </a:p>
          <a:p>
            <a:pPr indent="0" marL="0">
              <a:lnSpc>
                <a:spcPct val="125000"/>
              </a:lnSpc>
              <a:buNone/>
            </a:pPr>
            <a:r>
              <a:rPr lang="en-US" sz="900" b="1" dirty="0">
                <a:solidFill>
                  <a:srgbClr val="FFFFFF"/>
                </a:solidFill>
                <a:latin typeface="Calibri" pitchFamily="34" charset="0"/>
                <a:ea typeface="Calibri" pitchFamily="34" charset="-122"/>
                <a:cs typeface="Calibri" pitchFamily="34" charset="-120"/>
              </a:rPr>
              <a:t>3  Run BIM as a programme (17 assets)</a:t>
            </a:r>
            <a:endParaRPr lang="en-US" sz="900" dirty="0"/>
          </a:p>
        </p:txBody>
      </p:sp>
      <p:sp>
        <p:nvSpPr>
          <p:cNvPr id="39" name="Shape 36"/>
          <p:cNvSpPr/>
          <p:nvPr/>
        </p:nvSpPr>
        <p:spPr>
          <a:xfrm>
            <a:off x="411480" y="6455664"/>
            <a:ext cx="11365992" cy="0"/>
          </a:xfrm>
          <a:prstGeom prst="line">
            <a:avLst/>
          </a:prstGeom>
          <a:noFill/>
          <a:ln w="9525">
            <a:solidFill>
              <a:srgbClr val="DFE3EA"/>
            </a:solidFill>
            <a:prstDash val="solid"/>
          </a:ln>
        </p:spPr>
      </p:sp>
      <p:sp>
        <p:nvSpPr>
          <p:cNvPr id="40" name="Text 37"/>
          <p:cNvSpPr/>
          <p:nvPr/>
        </p:nvSpPr>
        <p:spPr>
          <a:xfrm>
            <a:off x="411480" y="6510528"/>
            <a:ext cx="11365992" cy="256032"/>
          </a:xfrm>
          <a:prstGeom prst="rect">
            <a:avLst/>
          </a:prstGeom>
          <a:noFill/>
          <a:ln/>
        </p:spPr>
        <p:txBody>
          <a:bodyPr wrap="square" lIns="0" tIns="0" rIns="0" bIns="0" rtlCol="0" anchor="ctr"/>
          <a:lstStyle/>
          <a:p>
            <a:pPr indent="0" marL="0">
              <a:buNone/>
            </a:pPr>
            <a:r>
              <a:rPr lang="en-US" sz="750" i="1" dirty="0">
                <a:solidFill>
                  <a:srgbClr val="77809A"/>
                </a:solidFill>
                <a:latin typeface="Calibri" pitchFamily="34" charset="0"/>
                <a:ea typeface="Calibri" pitchFamily="34" charset="-122"/>
                <a:cs typeface="Calibri" pitchFamily="34" charset="-120"/>
              </a:rPr>
              <a:t>Source: Monthly OEE Live File — “OEE% by Month” and “WC Target OEE” tabs. Q1 = Jan–Mar 2026; last 3 months = May–Jul 2026 (July is the most recent complete month). Family averages are the equal-weighted mean of each workcenter’s monthly OEE; months with no production are excluded, months recorded as 0% are included. OEE = Availability × Performance × Quality.</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OEE: Q1 2026 vs. Last Three Months</dc:title>
  <dc:subject>PptxGenJS Presentation</dc:subject>
  <dc:creator>Hollister OEE reporting</dc:creator>
  <cp:lastModifiedBy>Hollister OEE reporting</cp:lastModifiedBy>
  <cp:revision>1</cp:revision>
  <dcterms:created xsi:type="dcterms:W3CDTF">2026-08-18T19:19:33Z</dcterms:created>
  <dcterms:modified xsi:type="dcterms:W3CDTF">2026-08-18T19:19:33Z</dcterms:modified>
</cp:coreProperties>
</file>