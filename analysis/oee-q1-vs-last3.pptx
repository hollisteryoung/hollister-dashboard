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Target OEE</c:v>
                </c:pt>
              </c:strCache>
            </c:strRef>
          </c:tx>
          <c:spPr>
            <a:solidFill>
              <a:srgbClr val="C2C6C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4A567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Dansac Closed Pouch  (3)</c:v>
                  </c:pt>
                  <c:pt idx="1">
                    <c:v>Hollister Closed Pouch  (6)</c:v>
                  </c:pt>
                  <c:pt idx="2">
                    <c:v>BIM Machines  (17)</c:v>
                  </c:pt>
                  <c:pt idx="3">
                    <c:v>BFX Cells  (1)</c:v>
                  </c:pt>
                  <c:pt idx="4">
                    <c:v>Hollister Drainable Pouch  (8)</c:v>
                  </c:pt>
                  <c:pt idx="5">
                    <c:v>1-Piece Autocoiners  (12)</c:v>
                  </c:pt>
                  <c:pt idx="6">
                    <c:v>Dansac Drainable Pouch  (3)</c:v>
                  </c:pt>
                  <c:pt idx="7">
                    <c:v>2-Piece Autocoiners  (8)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62.9</c:v>
                </c:pt>
                <c:pt idx="1">
                  <c:v>69.3</c:v>
                </c:pt>
                <c:pt idx="2">
                  <c:v>71.1</c:v>
                </c:pt>
                <c:pt idx="3">
                  <c:v>58.9</c:v>
                </c:pt>
                <c:pt idx="4">
                  <c:v>59.6</c:v>
                </c:pt>
                <c:pt idx="5">
                  <c:v>71.7</c:v>
                </c:pt>
                <c:pt idx="6">
                  <c:v>56.4</c:v>
                </c:pt>
                <c:pt idx="7">
                  <c:v>75.6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 (Jan–Apr 2026)</c:v>
                </c:pt>
              </c:strCache>
            </c:strRef>
          </c:tx>
          <c:spPr>
            <a:solidFill>
              <a:srgbClr val="93ADD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4A567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Dansac Closed Pouch  (3)</c:v>
                  </c:pt>
                  <c:pt idx="1">
                    <c:v>Hollister Closed Pouch  (6)</c:v>
                  </c:pt>
                  <c:pt idx="2">
                    <c:v>BIM Machines  (17)</c:v>
                  </c:pt>
                  <c:pt idx="3">
                    <c:v>BFX Cells  (1)</c:v>
                  </c:pt>
                  <c:pt idx="4">
                    <c:v>Hollister Drainable Pouch  (8)</c:v>
                  </c:pt>
                  <c:pt idx="5">
                    <c:v>1-Piece Autocoiners  (12)</c:v>
                  </c:pt>
                  <c:pt idx="6">
                    <c:v>Dansac Drainable Pouch  (3)</c:v>
                  </c:pt>
                  <c:pt idx="7">
                    <c:v>2-Piece Autocoiners  (8)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40.4</c:v>
                </c:pt>
                <c:pt idx="1">
                  <c:v>55.3</c:v>
                </c:pt>
                <c:pt idx="2">
                  <c:v>54.3</c:v>
                </c:pt>
                <c:pt idx="3">
                  <c:v>61.1</c:v>
                </c:pt>
                <c:pt idx="4">
                  <c:v>55.9</c:v>
                </c:pt>
                <c:pt idx="5">
                  <c:v>63.3</c:v>
                </c:pt>
                <c:pt idx="6">
                  <c:v>56.3</c:v>
                </c:pt>
                <c:pt idx="7">
                  <c:v>57.5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Last 3 months (May–Jul 2026)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4A567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Dansac Closed Pouch  (3)</c:v>
                  </c:pt>
                  <c:pt idx="1">
                    <c:v>Hollister Closed Pouch  (6)</c:v>
                  </c:pt>
                  <c:pt idx="2">
                    <c:v>BIM Machines  (17)</c:v>
                  </c:pt>
                  <c:pt idx="3">
                    <c:v>BFX Cells  (1)</c:v>
                  </c:pt>
                  <c:pt idx="4">
                    <c:v>Hollister Drainable Pouch  (8)</c:v>
                  </c:pt>
                  <c:pt idx="5">
                    <c:v>1-Piece Autocoiners  (12)</c:v>
                  </c:pt>
                  <c:pt idx="6">
                    <c:v>Dansac Drainable Pouch  (3)</c:v>
                  </c:pt>
                  <c:pt idx="7">
                    <c:v>2-Piece Autocoiners  (8)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40.5</c:v>
                </c:pt>
                <c:pt idx="1">
                  <c:v>49.7</c:v>
                </c:pt>
                <c:pt idx="2">
                  <c:v>54.7</c:v>
                </c:pt>
                <c:pt idx="3">
                  <c:v>55</c:v>
                </c:pt>
                <c:pt idx="4">
                  <c:v>56.4</c:v>
                </c:pt>
                <c:pt idx="5">
                  <c:v>57.5</c:v>
                </c:pt>
                <c:pt idx="6">
                  <c:v>60.8</c:v>
                </c:pt>
                <c:pt idx="7">
                  <c:v>61.4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750" u="none">
                  <a:solidFill>
                    <a:srgbClr val="4A567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620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0"/>
        </c:scaling>
        <c:delete val="0"/>
        <c:axPos val="b"/>
        <c:majorGridlines>
          <c:spPr>
            <a:ln w="9525" cap="flat">
              <a:solidFill>
                <a:srgbClr val="E9ECF1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7809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50">
              <a:solidFill>
                <a:srgbClr val="4A567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Company OEE for the last three months (May–Jul 2026) is 55.5%, against 56.4% for the Jan–Apr 2026 baseline - a slip of −0.8 points, and −13.1 against target. April is in the baseline because it ran below the Jan-Mar average and ranked 4th of the seven months, so it is not part of any recent improvement. Urostomy (HU) Cells and Ring / Extruder are excluded from the chart and the company average. The largest deterioration is 1-Piece Autocoiners at -5.8 points, caused by two machines. Dansac Drainable is the only family above target. Slides 2 and 3 carry the family-by-month and workcell-level figures behind the chart.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Family-by-month OEE behind the slide 1 chart, plus the April placement test and the two excluded families.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Workcell-level baseline and last-3-month OEE for every asset in the charted families, sorted weakest change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37744"/>
            <a:ext cx="11365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OEE: Jan–Apr 2026 vs. Last Three Months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29768" y="676656"/>
            <a:ext cx="11338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May–Jul 2026 vs. Jan–Apr 2026</a:t>
            </a:r>
            <a:pPr indent="0" marL="0">
              <a:buNone/>
            </a:pPr>
            <a:r>
              <a:rPr lang="en-US" sz="1100" dirty="0">
                <a:solidFill>
                  <a:srgbClr val="778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58 workcells across 8 families   •   equal-weighted mean of monthly workcell OEE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11365992" cy="841248"/>
          </a:xfrm>
          <a:prstGeom prst="rect">
            <a:avLst/>
          </a:prstGeom>
          <a:solidFill>
            <a:srgbClr val="F4F6F9"/>
          </a:solidFill>
          <a:ln w="9525">
            <a:solidFill>
              <a:srgbClr val="DF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972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778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OEE — LAST 3 MONTHS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126187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55.5%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331720" y="1280160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−0.8 pts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vs. baseline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−13.1 pts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vs. target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26280" y="1133856"/>
            <a:ext cx="0" cy="585216"/>
          </a:xfrm>
          <a:prstGeom prst="line">
            <a:avLst/>
          </a:prstGeom>
          <a:noFill/>
          <a:ln w="12700">
            <a:solidFill>
              <a:srgbClr val="DFE3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09728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778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JAN–APR 2026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782312" y="126187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56.4%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800600" y="157276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included — see note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812280" y="1133856"/>
            <a:ext cx="0" cy="585216"/>
          </a:xfrm>
          <a:prstGeom prst="line">
            <a:avLst/>
          </a:prstGeom>
          <a:noFill/>
          <a:ln w="12700">
            <a:solidFill>
              <a:srgbClr val="DFE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86600" y="109728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778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TARGET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068312" y="126187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68.6%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086600" y="157276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Equipment-weighted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006840" y="1133856"/>
            <a:ext cx="0" cy="585216"/>
          </a:xfrm>
          <a:prstGeom prst="line">
            <a:avLst/>
          </a:prstGeom>
          <a:noFill/>
          <a:ln w="12700">
            <a:solidFill>
              <a:srgbClr val="DFE3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81160" y="109728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778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AT TARGET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9262872" y="126187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281160" y="157276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Dansac Drainable only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11480" y="2011680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OEE % by workcenter family — target vs. Jan–Apr 2026 vs. last 3 months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11480" y="2221992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8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by last-3-month OEE, highest first. Workcell count in brackets.</a:t>
            </a:r>
            <a:endParaRPr lang="en-US" sz="9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274320" y="2395728"/>
          <a:ext cx="763524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Text 20"/>
          <p:cNvSpPr/>
          <p:nvPr/>
        </p:nvSpPr>
        <p:spPr>
          <a:xfrm>
            <a:off x="8247888" y="2011680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8247888" y="2308860"/>
            <a:ext cx="82296" cy="82296"/>
          </a:xfrm>
          <a:prstGeom prst="rect">
            <a:avLst/>
          </a:prstGeom>
          <a:solidFill>
            <a:srgbClr val="9E2A2B"/>
          </a:solidFill>
          <a:ln/>
        </p:spPr>
      </p:sp>
      <p:sp>
        <p:nvSpPr>
          <p:cNvPr id="25" name="Text 22"/>
          <p:cNvSpPr/>
          <p:nvPr/>
        </p:nvSpPr>
        <p:spPr>
          <a:xfrm>
            <a:off x="8421624" y="2253996"/>
            <a:ext cx="3355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9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SLIPPING, NOT RECOVERING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8421624" y="2441448"/>
            <a:ext cx="3355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56.4% → 55.5%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(−0.8 pts) and still 13.1 pts under target. March was the high point at 58.9%; nothing since has matched it.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8247888" y="3058668"/>
            <a:ext cx="82296" cy="82296"/>
          </a:xfrm>
          <a:prstGeom prst="rect">
            <a:avLst/>
          </a:prstGeom>
          <a:solidFill>
            <a:srgbClr val="9E2A2B"/>
          </a:solidFill>
          <a:ln/>
        </p:spPr>
      </p:sp>
      <p:sp>
        <p:nvSpPr>
          <p:cNvPr id="28" name="Text 25"/>
          <p:cNvSpPr/>
          <p:nvPr/>
        </p:nvSpPr>
        <p:spPr>
          <a:xfrm>
            <a:off x="8421624" y="3003804"/>
            <a:ext cx="3355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9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DETERIORATION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8421624" y="3191256"/>
            <a:ext cx="3355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1-Piece Autocoiners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fell </a:t>
            </a:r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 pts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two machines alone: Autocoiner #5 (74.5→43.8) and #3 (67.2→40.6). The other ten held. Hollister Closed Pouch is next at −5.5, led by PCH04 and PCH01.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8247888" y="3863340"/>
            <a:ext cx="82296" cy="82296"/>
          </a:xfrm>
          <a:prstGeom prst="rect">
            <a:avLst/>
          </a:prstGeom>
          <a:solidFill>
            <a:srgbClr val="1C6B45"/>
          </a:solidFill>
          <a:ln/>
        </p:spPr>
      </p:sp>
      <p:sp>
        <p:nvSpPr>
          <p:cNvPr id="31" name="Text 28"/>
          <p:cNvSpPr/>
          <p:nvPr/>
        </p:nvSpPr>
        <p:spPr>
          <a:xfrm>
            <a:off x="8421624" y="3808476"/>
            <a:ext cx="3355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C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BRIGHT SPOTS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8421624" y="3995928"/>
            <a:ext cx="3355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Dansac Drainable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only family above target (+4.4 pts), up 4.6 on P16’s recovery. </a:t>
            </a:r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2-Piece Autocoiners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gained 3.9 pts to lead the fleet at 61.4%, on AC08 (+21.9).</a:t>
            </a:r>
            <a:pPr indent="0" marL="0">
              <a:lnSpc>
                <a:spcPct val="100000"/>
              </a:lnSpc>
              <a:buNone/>
            </a:pP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8247888" y="4668012"/>
            <a:ext cx="82296" cy="82296"/>
          </a:xfrm>
          <a:prstGeom prst="rect">
            <a:avLst/>
          </a:prstGeom>
          <a:solidFill>
            <a:srgbClr val="9A6212"/>
          </a:solidFill>
          <a:ln/>
        </p:spPr>
      </p:sp>
      <p:sp>
        <p:nvSpPr>
          <p:cNvPr id="34" name="Text 31"/>
          <p:cNvSpPr/>
          <p:nvPr/>
        </p:nvSpPr>
        <p:spPr>
          <a:xfrm>
            <a:off x="8421624" y="4613148"/>
            <a:ext cx="3355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9A6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ITEM — FOUR STALLED ASSETS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8421624" y="4800600"/>
            <a:ext cx="3355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Kiefel 2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(11.8%), </a:t>
            </a:r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HF12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(14.4%, no target on file), </a:t>
            </a:r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 2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(20.2%) and </a:t>
            </a:r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 1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(fell to 23.9%) sit under 25%. Confirm status before reading their family gaps as performance.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8247888" y="5431536"/>
            <a:ext cx="3529584" cy="969264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7" name="Text 34"/>
          <p:cNvSpPr/>
          <p:nvPr/>
        </p:nvSpPr>
        <p:spPr>
          <a:xfrm>
            <a:off x="8394192" y="5495544"/>
            <a:ext cx="3236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A9B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FOCUS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8394192" y="5705856"/>
            <a:ext cx="32369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Rule on the four stalled assets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Root-cause Autocoiner #3 and #5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Run BIM as a programme (17 assets)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411480" y="6455664"/>
            <a:ext cx="11365992" cy="0"/>
          </a:xfrm>
          <a:prstGeom prst="line">
            <a:avLst/>
          </a:prstGeom>
          <a:noFill/>
          <a:ln w="9525">
            <a:solidFill>
              <a:srgbClr val="DFE3EA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11480" y="6510528"/>
            <a:ext cx="11365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78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Monthly OEE Live File — “OEE% by Month” and “WC Target OEE” tabs. Baseline = Jan–Apr 2026; last 3 months = May–Jul 2026 (July is the most recent complete month). April sits in the baseline: at 56.0% it ran below the Jan–Mar average and ranked 4th of the seven months. Urostomy (HU) Cells and Ring / Extruder are excluded throughout. BFX1’s July reading is excluded from every average, so BFX Cells and the company figure are built from May–Jun for that cell. Averages are the equal-weighted mean of each workcell’s monthly OEE; months with no production are excluded, months recorded as 0% are included.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37744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Behind the Chart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29768" y="676656"/>
            <a:ext cx="11338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8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OEE % by workcenter family, 2026. Baseline and last-3-month columns are the averages plotted on slide 1.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15568"/>
          <a:ext cx="11365992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411480"/>
                <a:gridCol w="621792"/>
                <a:gridCol w="603504"/>
                <a:gridCol w="603504"/>
                <a:gridCol w="603504"/>
                <a:gridCol w="603504"/>
                <a:gridCol w="603504"/>
                <a:gridCol w="603504"/>
                <a:gridCol w="603504"/>
                <a:gridCol w="868680"/>
                <a:gridCol w="868680"/>
                <a:gridCol w="566928"/>
                <a:gridCol w="649224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Workcenter family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50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50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50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50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Jan–Apr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May–Jul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target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2-Piece Autocoiners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C6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−14.2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Dansac Drainable Pouch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C6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6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1-Piece Autocoiners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−14.2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Hollister Drainable Pouch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C6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BFX Cells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BIM Machines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C6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−16.4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Hollister Closed Pouch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−19.6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Dansac Closed Pouch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C6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−22.4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 (8 families)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−13.1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11480" y="43159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periods are built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11480" y="4535424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mean of Jan, Feb, Mar, Apr.  </a:t>
            </a:r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3 months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mean of May, Jun, Jul.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was tested against the Q1 average before being placed. At </a:t>
            </a:r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56.0%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 came in </a:t>
            </a:r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pts below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Jan–Mar mean of 56.5% and ranked 4th of the seven months, so it is not evidence of recent improvement and sits in the baseline rather than with May–Jul.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11480" y="550468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— one reading to correct at source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11480" y="5724144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2Pc Autocoiner 3 (796)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records </a:t>
            </a:r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9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−9.5% OEE for May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which is not physically possible. It is carried through as-is rather than silently altered, and it pulls 2-Piece Autocoiners’ last-3-month figure down to </a:t>
            </a:r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61.4%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excluding that one reading the family reads </a:t>
            </a:r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64.5%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309360" y="5779008"/>
            <a:ext cx="5468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reading dropped by request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309360" y="5998464"/>
            <a:ext cx="5468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BFX1’s July reading (26.4%) is excluded</a:t>
            </a:r>
            <a:pPr indent="0" marL="0">
              <a:buNone/>
            </a:pPr>
            <a:r>
              <a:rPr lang="en-US" sz="95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BFX Cells and the company average. It ends a steady four-month slide — 71.6 → 64.7 → 45.3 → 26.4 — not a one-off, so 55.0% understates an ongoing decline.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309360" y="4315968"/>
            <a:ext cx="5468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excluded from this analysis</a:t>
            </a:r>
            <a:endParaRPr lang="en-US" sz="11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4535424"/>
          <a:ext cx="5468112" cy="914400"/>
        </p:xfrm>
        <a:graphic>
          <a:graphicData uri="http://schemas.openxmlformats.org/drawingml/2006/table">
            <a:tbl>
              <a:tblPr/>
              <a:tblGrid>
                <a:gridCol w="2212848"/>
                <a:gridCol w="457200"/>
                <a:gridCol w="768096"/>
                <a:gridCol w="1014984"/>
                <a:gridCol w="1014984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Jan–Apr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May–Jul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Urostomy (HU) Cells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Ring / Extruder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6309360" y="5468112"/>
            <a:ext cx="5468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8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for reference only — excluded from the chart, the company average and every figure on slide 1.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11480" y="6455664"/>
            <a:ext cx="11365992" cy="0"/>
          </a:xfrm>
          <a:prstGeom prst="line">
            <a:avLst/>
          </a:prstGeom>
          <a:noFill/>
          <a:ln w="9525">
            <a:solidFill>
              <a:srgbClr val="DFE3E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11480" y="6510528"/>
            <a:ext cx="11365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78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Monthly OEE Live File — “OEE% by Month” and “WC Target OEE” tabs. Baseline = Jan–Apr 2026; last 3 months = May–Jul 2026 (July is the most recent complete month). April sits in the baseline: at 56.0% it ran below the Jan–Mar average and ranked 4th of the seven months. Urostomy (HU) Cells and Ring / Extruder are excluded throughout. BFX1’s July reading is excluded from every average, so BFX Cells and the company figure are built from May–Jun for that cell. Averages are the equal-weighted mean of each workcell’s monthly OEE; months with no production are excluded, months recorded as 0% are included.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37744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Workcell Detail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29768" y="676656"/>
            <a:ext cx="11338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8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workcell in the 8 charted families, 58 in total. Sorted by change, weakest first — the top of the left column is where the losses are.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15568"/>
          <a:ext cx="5632704" cy="914400"/>
        </p:xfrm>
        <a:graphic>
          <a:graphicData uri="http://schemas.openxmlformats.org/drawingml/2006/table">
            <a:tbl>
              <a:tblPr/>
              <a:tblGrid>
                <a:gridCol w="1572768"/>
                <a:gridCol w="1133856"/>
                <a:gridCol w="658368"/>
                <a:gridCol w="786384"/>
                <a:gridCol w="786384"/>
                <a:gridCol w="694944"/>
              </a:tblGrid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Workcell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Jan–Apr 2026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May–Jul 2026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Autocoiner #5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1Pc AC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−30.7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Autocoiner #3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1Pc AC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−26.6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BIM 1 (815)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−19.7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2Pc Autocoiner 3 (796)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2Pc AC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−17.8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PCH04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 Closed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−15.9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BIM 10 (997)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−14.6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PCH01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 Closed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−11.6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BIM 2 (820)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−7.8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PCH07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 Closed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−7.6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PCH15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 Closed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−7.5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Keifel12 (979)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 Drain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−7.2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2PCAC06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2Pc AC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−6.2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BFX1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BFX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−6.1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Autocoiner #4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1Pc AC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BIM03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−5.7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Autocoiner #8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1Pc AC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−5.7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BIM 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−4.7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Autocoiner #6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1Pc AC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Kiefel 13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 Drain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Kiefel 14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 Drain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HF12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 Closed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Kiefel 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 Drain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Autocoiner #7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1Pc AC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BIM 4 (828)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HF17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 Closed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1Pc Autocoiner 2 (844)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1Pc AC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1PCAC10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1Pc AC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C6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BIM 11 (991)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C6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Kiefel6 (791)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 Drain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C6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44768" y="1115568"/>
          <a:ext cx="5632704" cy="914400"/>
        </p:xfrm>
        <a:graphic>
          <a:graphicData uri="http://schemas.openxmlformats.org/drawingml/2006/table">
            <a:tbl>
              <a:tblPr/>
              <a:tblGrid>
                <a:gridCol w="1572768"/>
                <a:gridCol w="1133856"/>
                <a:gridCol w="658368"/>
                <a:gridCol w="786384"/>
                <a:gridCol w="786384"/>
                <a:gridCol w="694944"/>
              </a:tblGrid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Workcell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Jan–Apr 2026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May–Jul 2026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BIM16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C6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2Pc AC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C6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Kiefel 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 Drain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C6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HF11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 Closed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C6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2Pc Autocoiner 5 (858)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2Pc AC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C6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Kiefel 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 Drain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C6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1PCAC12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1Pc AC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C6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BIM 9 (977)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C6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Kiefel 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 Closed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C6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BIM14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C6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BIM 6 (788)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C6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1pc Autocoiner 9 (34753)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1Pc AC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C6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1Pc Autocoiner 1 (789)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1Pc AC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C6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1PCAC11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1Pc AC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C6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2Pc Autocoiner 4 (843)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2Pc AC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C6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Kiefel8 (793)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 Drain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C6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BIM05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C6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BIM13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C6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Keifel11 (978)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 Drain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C6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PCH17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 Drain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C6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Kiefel5 (790)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 Closed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C6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BIM 7 (798)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C6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+6.1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2Pc Autocoiner 7 (996)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2Pc AC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C6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+8.4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BIM15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C6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+12.5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BIM08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C6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+13.4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AC09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2Pc AC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C6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+15.4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BIM 12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C6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+15.9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 Drain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C6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+18.2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AC08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2Pc AC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C6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+21.9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11480" y="6455664"/>
            <a:ext cx="11365992" cy="0"/>
          </a:xfrm>
          <a:prstGeom prst="line">
            <a:avLst/>
          </a:prstGeom>
          <a:noFill/>
          <a:ln w="9525">
            <a:solidFill>
              <a:srgbClr val="DFE3EA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411480" y="6510528"/>
            <a:ext cx="11365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78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“—” means no target is recorded for that workcell in the “WC Target OEE” tab; those workcells count toward the OEE averages but not the target average. Baseline = Jan–Apr 2026; last 3 months = May–Jul 2026. Source: Monthly OEE Live File — “OEE% by Month” and “WC Target OEE” tabs.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OEE: Jan–Apr 2026 vs. May–Jul 2026</dc:title>
  <dc:subject>PptxGenJS Presentation</dc:subject>
  <dc:creator>Hollister OEE reporting</dc:creator>
  <cp:lastModifiedBy>Hollister OEE reporting</cp:lastModifiedBy>
  <cp:revision>1</cp:revision>
  <dcterms:created xsi:type="dcterms:W3CDTF">2026-08-19T13:49:51Z</dcterms:created>
  <dcterms:modified xsi:type="dcterms:W3CDTF">2026-08-19T13:49:51Z</dcterms:modified>
</cp:coreProperties>
</file>